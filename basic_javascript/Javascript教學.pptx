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3" r:id="rId26"/>
    <p:sldId id="292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258" r:id="rId35"/>
    <p:sldId id="257" r:id="rId36"/>
    <p:sldId id="259" r:id="rId37"/>
    <p:sldId id="260" r:id="rId38"/>
    <p:sldId id="261" r:id="rId39"/>
    <p:sldId id="262" r:id="rId40"/>
    <p:sldId id="267" r:id="rId41"/>
    <p:sldId id="268" r:id="rId42"/>
    <p:sldId id="264" r:id="rId43"/>
    <p:sldId id="265" r:id="rId44"/>
    <p:sldId id="266" r:id="rId45"/>
    <p:sldId id="269" r:id="rId4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/>
    <p:restoredTop sz="94649"/>
  </p:normalViewPr>
  <p:slideViewPr>
    <p:cSldViewPr snapToGrid="0" snapToObjects="1">
      <p:cViewPr varScale="1">
        <p:scale>
          <a:sx n="102" d="100"/>
          <a:sy n="102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EFB35-7DD2-434D-80BA-81383BCF0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FD1A59-491E-CC45-8338-709E4B0F2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3CBE4A-2406-7449-9E98-0D84EDB4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2E39A6-E573-A041-8F33-7086126D3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74E179-359C-944F-A5FB-8660ADB3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5505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BA9487-1514-2F47-9644-B71668C51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FD3140-676E-FB4D-9541-1633F3832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C73F19-4634-A941-84A3-94AB83D42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E0B1E9-87C2-D143-B769-005BBAD0B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DA63B8-10A7-2148-8BAB-41D6DB86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286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C7C1E0-857B-7F4B-8116-AE0815910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977C7A-9C0A-D140-BF2C-9B84E7D13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99A190-1621-044E-86B2-2AC775E8F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7B56F7-FA87-1A4F-AEEF-29A5571B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8E882B-9814-0847-BACA-8C94B7BD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07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63CF3B-2456-AE4C-AB0B-299CED19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75988-4F73-7741-B48C-D722F0685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52E767-275D-6D4F-B95E-9DF1DCC0D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E7BCBB-B258-5446-8280-6E8664C0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819BEB-D3A3-F14F-9AFA-D3B56D944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68165A-E675-F742-8F4A-E7852D7C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39213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28F6F-C745-F94F-98E5-3A4C7867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5D0965-F070-5242-A411-8889BE244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F4B0616-344A-DF46-BA04-DB7D63D8F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FEF66E-0B10-DD4E-99B8-2DA70A4EBD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7EFC582-4505-064F-A2A2-7BB582460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1887B4-F802-084F-8DBA-B060CA467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D1965BB-8E96-E74D-9C58-25818DE7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9784DB0-E71D-0541-9533-B6C78579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539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855875-B961-0A45-95C4-948F00FF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06B0A24-4658-A247-8B89-6A316336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A257E0-A0DC-994E-B58B-CBCA0286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99B4CC8-2B02-FB47-A6CF-868F78EC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511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54874BD-C154-BC42-8FFF-65B684FB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5B996AE-95E6-CA4E-95BD-12B73A13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6474E5-0E40-2546-B4B1-A9836043B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6594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1B1D70-9F3A-C945-9F58-E88115D0C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C919CA-25E8-3B4B-8B4C-5F02FDE50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20D7931-FD78-C64F-A197-500C75738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6DEB28A-411C-4E4B-820C-9AB75015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1AF534-D0C0-F742-A744-97CEA458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102386-57B3-F54E-B944-ABFB2B84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2989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5CE53D-9180-0F46-9359-7813FC08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5CB444-9C1E-2F46-B411-31E76DA94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033446-D2BA-C24F-8A81-7EBC02849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595B9B-EAF3-7546-91C6-B7E643E4A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F4F6770-A229-6845-81BF-9ACA7FDC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3E93BE-8B46-6D48-935D-7CCD4BA45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7397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57810-F432-8C4A-BA30-911B6F5A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6701BAD-22BD-2849-80A2-F6B68FBE8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6F1F59-94C7-0540-9826-3C6516BF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BC30DA-5B0F-3C43-9324-83AD840EB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BC24A7-CDCE-FE41-82E4-45F9143C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272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856F5C-A16C-094D-BC66-83DF03858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1EB57C4-4079-DC46-8EFE-0F6168F81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4C7F75-2663-AA43-9523-70097AB5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386552-4B72-9944-9E4C-73EA05AF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A3E942-D77D-F340-ABB2-CDDDE6A3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61187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DDE8434-59A3-484F-8375-3C913480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C86F0F-DA3A-2E4B-843E-73F51D5A0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5F49F6-B630-9E40-AED7-4A335B119C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99469-1B19-F845-9CC7-3625D979EFF4}" type="datetimeFigureOut">
              <a:rPr kumimoji="1" lang="zh-TW" altLang="en-US" smtClean="0"/>
              <a:t>2025/11/14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0EFBCE-C335-AC44-B37F-883FA3C61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4A673B-6AD4-364F-A1B2-6BD809A8F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F3B2C-8CF7-644C-8F54-028867DF5F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4002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4.xml"/><Relationship Id="rId3" Type="http://schemas.openxmlformats.org/officeDocument/2006/relationships/slide" Target="slide12.xml"/><Relationship Id="rId7" Type="http://schemas.openxmlformats.org/officeDocument/2006/relationships/slide" Target="slide3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11" Type="http://schemas.openxmlformats.org/officeDocument/2006/relationships/slide" Target="slide42.xml"/><Relationship Id="rId5" Type="http://schemas.openxmlformats.org/officeDocument/2006/relationships/slide" Target="slide24.xml"/><Relationship Id="rId10" Type="http://schemas.openxmlformats.org/officeDocument/2006/relationships/slide" Target="slide40.xml"/><Relationship Id="rId4" Type="http://schemas.openxmlformats.org/officeDocument/2006/relationships/slide" Target="slide22.xml"/><Relationship Id="rId9" Type="http://schemas.openxmlformats.org/officeDocument/2006/relationships/slide" Target="slide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48D94-73C5-6B45-AFF5-5C511F5ED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b="1" dirty="0" err="1"/>
              <a:t>Javascript</a:t>
            </a:r>
            <a:r>
              <a:rPr kumimoji="1" lang="en-US" altLang="zh-TW" b="1" dirty="0"/>
              <a:t> </a:t>
            </a:r>
            <a:r>
              <a:rPr kumimoji="1" lang="zh-CN" altLang="en-US" b="1" dirty="0"/>
              <a:t>教學</a:t>
            </a:r>
            <a:endParaRPr kumimoji="1" lang="zh-TW" altLang="en-US" b="1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BC4CE92-E1AB-CB44-9C32-2AED1C8DDB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266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539A2A-6C90-2241-8968-24DB4B43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Outline</a:t>
            </a:r>
            <a:endParaRPr kumimoji="1" lang="zh-TW" alt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BE0667-0D36-9D49-8463-FC205363B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243"/>
            <a:ext cx="10515600" cy="5274366"/>
          </a:xfrm>
        </p:spPr>
        <p:txBody>
          <a:bodyPr>
            <a:normAutofit fontScale="92500" lnSpcReduction="10000"/>
          </a:bodyPr>
          <a:lstStyle/>
          <a:p>
            <a:r>
              <a:rPr lang="en" altLang="zh-TW" sz="3200" dirty="0">
                <a:hlinkClick r:id="rId2" action="ppaction://hlinksldjump"/>
              </a:rPr>
              <a:t>JavaScript </a:t>
            </a:r>
            <a:r>
              <a:rPr lang="zh-TW" altLang="en-US" sz="3200" dirty="0">
                <a:hlinkClick r:id="rId2" action="ppaction://hlinksldjump"/>
              </a:rPr>
              <a:t>基礎型別</a:t>
            </a:r>
            <a:endParaRPr lang="en-US" altLang="zh-TW" sz="3200" dirty="0"/>
          </a:p>
          <a:p>
            <a:r>
              <a:rPr lang="zh-TW" altLang="en-US" sz="3200" dirty="0">
                <a:hlinkClick r:id="rId3" action="ppaction://hlinksldjump"/>
              </a:rPr>
              <a:t>流程控制</a:t>
            </a:r>
            <a:endParaRPr lang="en-US" altLang="zh-TW" sz="3200" dirty="0"/>
          </a:p>
          <a:p>
            <a:r>
              <a:rPr lang="zh-TW" altLang="en-US" sz="3200" dirty="0">
                <a:hlinkClick r:id="rId4" action="ppaction://hlinksldjump"/>
              </a:rPr>
              <a:t>資料結構</a:t>
            </a:r>
            <a:endParaRPr lang="en-US" altLang="zh-TW" sz="3200" dirty="0"/>
          </a:p>
          <a:p>
            <a:pPr lvl="1"/>
            <a:r>
              <a:rPr kumimoji="1" lang="en-US" altLang="zh-TW" sz="2800" dirty="0">
                <a:hlinkClick r:id="rId4" action="ppaction://hlinksldjump"/>
              </a:rPr>
              <a:t>Array</a:t>
            </a:r>
            <a:endParaRPr kumimoji="1" lang="en-US" altLang="zh-CN" sz="2800" dirty="0"/>
          </a:p>
          <a:p>
            <a:pPr lvl="1"/>
            <a:r>
              <a:rPr kumimoji="1" lang="en-US" altLang="zh-TW" sz="2800" dirty="0">
                <a:hlinkClick r:id="rId5" action="ppaction://hlinksldjump"/>
              </a:rPr>
              <a:t>Object</a:t>
            </a:r>
            <a:endParaRPr kumimoji="1" lang="en-US" altLang="zh-CN" sz="2800" dirty="0"/>
          </a:p>
          <a:p>
            <a:pPr lvl="1"/>
            <a:r>
              <a:rPr kumimoji="1" lang="en-US" altLang="zh-TW" sz="2800" dirty="0">
                <a:hlinkClick r:id="rId6" action="ppaction://hlinksldjump"/>
              </a:rPr>
              <a:t>Set</a:t>
            </a:r>
            <a:endParaRPr kumimoji="1" lang="en-US" altLang="zh-CN" sz="2800" dirty="0"/>
          </a:p>
          <a:p>
            <a:pPr lvl="1"/>
            <a:r>
              <a:rPr kumimoji="1" lang="en-US" altLang="zh-TW" sz="2800" dirty="0">
                <a:hlinkClick r:id="rId7" action="ppaction://hlinksldjump"/>
              </a:rPr>
              <a:t>Map</a:t>
            </a:r>
            <a:endParaRPr kumimoji="1" lang="en-US" altLang="zh-TW" sz="2800" dirty="0"/>
          </a:p>
          <a:p>
            <a:r>
              <a:rPr kumimoji="1" lang="zh-CN" altLang="en-US" sz="3200" dirty="0"/>
              <a:t>其他物件</a:t>
            </a:r>
            <a:endParaRPr kumimoji="1" lang="en-US" altLang="zh-CN" sz="3200" dirty="0"/>
          </a:p>
          <a:p>
            <a:pPr lvl="1"/>
            <a:r>
              <a:rPr kumimoji="1" lang="en-US" altLang="zh-TW" sz="2800" dirty="0">
                <a:hlinkClick r:id="rId8" action="ppaction://hlinksldjump"/>
              </a:rPr>
              <a:t>Math </a:t>
            </a:r>
            <a:r>
              <a:rPr lang="zh-TW" altLang="en-US" sz="2800" dirty="0">
                <a:hlinkClick r:id="rId8" action="ppaction://hlinksldjump"/>
              </a:rPr>
              <a:t>物件</a:t>
            </a:r>
            <a:endParaRPr kumimoji="1" lang="en-US" altLang="zh-CN" sz="2800" dirty="0"/>
          </a:p>
          <a:p>
            <a:pPr lvl="1"/>
            <a:r>
              <a:rPr kumimoji="1" lang="en-US" altLang="zh-TW" sz="2800" dirty="0">
                <a:hlinkClick r:id="rId9" action="ppaction://hlinksldjump"/>
              </a:rPr>
              <a:t>String </a:t>
            </a:r>
            <a:r>
              <a:rPr lang="zh-TW" altLang="en-US" sz="2800" dirty="0">
                <a:hlinkClick r:id="rId9" action="ppaction://hlinksldjump"/>
              </a:rPr>
              <a:t>物件</a:t>
            </a:r>
            <a:endParaRPr kumimoji="1" lang="en-US" altLang="zh-CN" sz="2800" dirty="0"/>
          </a:p>
          <a:p>
            <a:pPr lvl="1"/>
            <a:r>
              <a:rPr kumimoji="1" lang="en-US" altLang="zh-CN" sz="2800" dirty="0">
                <a:hlinkClick r:id="rId10" action="ppaction://hlinksldjump"/>
              </a:rPr>
              <a:t>setTimeout, </a:t>
            </a:r>
            <a:r>
              <a:rPr kumimoji="1" lang="en-US" altLang="zh-CN" sz="2800" dirty="0" err="1">
                <a:hlinkClick r:id="rId10" action="ppaction://hlinksldjump"/>
              </a:rPr>
              <a:t>setInterval</a:t>
            </a:r>
            <a:endParaRPr kumimoji="1" lang="en-US" altLang="zh-CN" sz="2800" dirty="0"/>
          </a:p>
          <a:p>
            <a:pPr lvl="1"/>
            <a:r>
              <a:rPr kumimoji="1" lang="en-US" altLang="zh-TW" sz="2800" dirty="0">
                <a:hlinkClick r:id="rId11" action="ppaction://hlinksldjump"/>
              </a:rPr>
              <a:t>Date </a:t>
            </a:r>
            <a:r>
              <a:rPr lang="zh-TW" altLang="en-US" sz="2800" dirty="0">
                <a:hlinkClick r:id="rId11" action="ppaction://hlinksldjump"/>
              </a:rPr>
              <a:t>物件</a:t>
            </a:r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8528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19E321-1776-F44A-8933-DDAF1443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 err="1"/>
              <a:t>Javascript</a:t>
            </a:r>
            <a:r>
              <a:rPr kumimoji="1" lang="en-US" altLang="zh-TW" b="1" dirty="0"/>
              <a:t> </a:t>
            </a:r>
            <a:r>
              <a:rPr kumimoji="1" lang="zh-CN" altLang="en-US" b="1" dirty="0"/>
              <a:t>的七種基礎型別</a:t>
            </a:r>
            <a:endParaRPr kumimoji="1" lang="zh-TW" altLang="en-US" b="1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363B1A1-DA5F-B749-9893-79AE22944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3295184"/>
              </p:ext>
            </p:extLst>
          </p:nvPr>
        </p:nvGraphicFramePr>
        <p:xfrm>
          <a:off x="864704" y="1897512"/>
          <a:ext cx="10515600" cy="29260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759225">
                  <a:extLst>
                    <a:ext uri="{9D8B030D-6E8A-4147-A177-3AD203B41FA5}">
                      <a16:colId xmlns:a16="http://schemas.microsoft.com/office/drawing/2014/main" val="2653478077"/>
                    </a:ext>
                  </a:extLst>
                </a:gridCol>
                <a:gridCol w="4598505">
                  <a:extLst>
                    <a:ext uri="{9D8B030D-6E8A-4147-A177-3AD203B41FA5}">
                      <a16:colId xmlns:a16="http://schemas.microsoft.com/office/drawing/2014/main" val="1862938067"/>
                    </a:ext>
                  </a:extLst>
                </a:gridCol>
                <a:gridCol w="4157870">
                  <a:extLst>
                    <a:ext uri="{9D8B030D-6E8A-4147-A177-3AD203B41FA5}">
                      <a16:colId xmlns:a16="http://schemas.microsoft.com/office/drawing/2014/main" val="1367320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型別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/>
                        <a:t>說明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範例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46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rgbClr val="FF0000"/>
                          </a:solidFill>
                        </a:rP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整數或浮點數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42, 3.14, 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2435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 err="1">
                          <a:solidFill>
                            <a:srgbClr val="FF0000"/>
                          </a:solidFill>
                        </a:rPr>
                        <a:t>BigInt</a:t>
                      </a:r>
                      <a:endParaRPr lang="en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大整數，超過 </a:t>
                      </a:r>
                      <a:r>
                        <a:rPr lang="en"/>
                        <a:t>Number </a:t>
                      </a:r>
                      <a:r>
                        <a:rPr lang="zh-TW" altLang="en-US"/>
                        <a:t>安全範圍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123456789012345678901234567890n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349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rgbClr val="FF0000"/>
                          </a:solidFill>
                        </a:rP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文字字串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"Hello", 'abc'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691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rgbClr val="FF0000"/>
                          </a:solidFill>
                        </a:rPr>
                        <a:t>Boolean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布林值，</a:t>
                      </a:r>
                      <a:r>
                        <a:rPr lang="en"/>
                        <a:t>true </a:t>
                      </a:r>
                      <a:r>
                        <a:rPr lang="zh-TW" altLang="en-US"/>
                        <a:t>或 </a:t>
                      </a:r>
                      <a:r>
                        <a:rPr lang="en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true, 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335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rgbClr val="FF0000"/>
                          </a:solidFill>
                        </a:rPr>
                        <a:t>undefined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尚未被賦值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let a; console.log(a); // undefined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879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rgbClr val="FF0000"/>
                          </a:solidFill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空值或無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let obj = null;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807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rgbClr val="FF0000"/>
                          </a:solidFill>
                        </a:rPr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唯一標識符，用於物件鍵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let id = Symbol('id');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425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181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F57596-FC0C-8943-BBA5-B89F5562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1103D0-6E06-634F-A72F-137B843CF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482F7C-B53D-5B43-A2E2-10F22E06B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825625"/>
            <a:ext cx="83185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9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2E228B-86A0-E446-8205-F3678E55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75A6A-CCD2-AA4E-B3DE-4D6684CC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5142EA-1804-0C45-AAA8-20728C5E0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985" y="1825625"/>
            <a:ext cx="83185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836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3B3AC-B009-9341-8D22-CDCC93454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5F65EE-7AD7-4949-95F6-7054D086E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01F837E-3105-7F4D-98C4-9E8B7DC56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752600"/>
            <a:ext cx="83185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3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FE395-4765-D141-BAC0-C284A35C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FDD386-F2FC-C947-B2D8-8B9C7A45C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B39F063-111D-7349-8AB5-2DDF82A2B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446" y="1825625"/>
            <a:ext cx="83185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8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3FE12-64E6-124C-ADCD-9E6348C2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92163C-07F3-6A46-AAE9-B5CC6E26B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17229F1-1505-FB4B-B817-280CCF50C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2057400"/>
            <a:ext cx="83185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32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694D1-8546-F34B-9454-3B079465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ED53D4-40E5-694D-850A-488A0F33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47DE1E-9FF1-ED42-AA35-82B542CC7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2057400"/>
            <a:ext cx="83185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48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84210-28EE-E54E-BAFA-20AD9958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436019-7DCF-0A49-A3F6-E5835A465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889338-56FE-0B4B-B938-3063DA9E2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873250"/>
            <a:ext cx="83185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80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3BD05-171D-7041-89EA-195784800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A3523B-A194-0841-8155-D2438F412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9A2F25-EBE4-F942-B609-4B40A008C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825625"/>
            <a:ext cx="8318500" cy="374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87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988E14-D044-B64D-8F04-94E85086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JavaScript </a:t>
            </a:r>
            <a:r>
              <a:rPr lang="zh-TW" altLang="en-US" b="1" dirty="0"/>
              <a:t>流程控制</a:t>
            </a:r>
            <a:endParaRPr kumimoji="1" lang="zh-TW" altLang="en-US" b="1" dirty="0"/>
          </a:p>
        </p:txBody>
      </p:sp>
      <p:graphicFrame>
        <p:nvGraphicFramePr>
          <p:cNvPr id="14" name="內容版面配置區 13">
            <a:extLst>
              <a:ext uri="{FF2B5EF4-FFF2-40B4-BE49-F238E27FC236}">
                <a16:creationId xmlns:a16="http://schemas.microsoft.com/office/drawing/2014/main" id="{C07B64C0-35C2-FE40-AF84-663AC205F6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4560646"/>
              </p:ext>
            </p:extLst>
          </p:nvPr>
        </p:nvGraphicFramePr>
        <p:xfrm>
          <a:off x="3024808" y="1801433"/>
          <a:ext cx="5098774" cy="36576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342322">
                  <a:extLst>
                    <a:ext uri="{9D8B030D-6E8A-4147-A177-3AD203B41FA5}">
                      <a16:colId xmlns:a16="http://schemas.microsoft.com/office/drawing/2014/main" val="213174247"/>
                    </a:ext>
                  </a:extLst>
                </a:gridCol>
                <a:gridCol w="2756452">
                  <a:extLst>
                    <a:ext uri="{9D8B030D-6E8A-4147-A177-3AD203B41FA5}">
                      <a16:colId xmlns:a16="http://schemas.microsoft.com/office/drawing/2014/main" val="4151893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流程控制類型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說明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7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solidFill>
                            <a:srgbClr val="FF0000"/>
                          </a:solidFill>
                        </a:rPr>
                        <a:t>if / else / else if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solidFill>
                            <a:srgbClr val="FF0000"/>
                          </a:solidFill>
                        </a:rPr>
                        <a:t>條件判斷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734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solidFill>
                            <a:srgbClr val="FF0000"/>
                          </a:solidFill>
                        </a:rPr>
                        <a:t>switch /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多值判斷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073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chemeClr val="accent6"/>
                          </a:solidFill>
                        </a:rPr>
                        <a:t>for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>
                          <a:solidFill>
                            <a:schemeClr val="accent6"/>
                          </a:solidFill>
                        </a:rPr>
                        <a:t>已知次數迴圈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8696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chemeClr val="accent6"/>
                          </a:solidFill>
                        </a:rPr>
                        <a:t>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accent6"/>
                          </a:solidFill>
                        </a:rPr>
                        <a:t>先判斷條件的迴圈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039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>
                          <a:solidFill>
                            <a:schemeClr val="accent6"/>
                          </a:solidFill>
                        </a:rPr>
                        <a:t>do...while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accent6"/>
                          </a:solidFill>
                        </a:rPr>
                        <a:t>至少執行一次的迴圈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351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break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迴圈提早結束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375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continue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跳過本次迴圈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394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return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函式內結束流程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602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>
                          <a:solidFill>
                            <a:schemeClr val="accent1"/>
                          </a:solidFill>
                        </a:rPr>
                        <a:t>try/catch/finally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accent1"/>
                          </a:solidFill>
                        </a:rPr>
                        <a:t>錯誤處理流程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1705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5859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531995-BAB5-1045-B55D-BF6BA644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98461-AE3C-BC4F-8C5F-14156C550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E3984E-B026-B746-8067-DC59F495B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508000"/>
            <a:ext cx="83185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72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A9E87-0FF6-6947-80EC-BB1F38C4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DB5A8A-3319-4E4E-8760-9B43F49AD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4D8A8C0-85C9-D54F-B731-431D2410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825625"/>
            <a:ext cx="83185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925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FC433F-70A3-3849-AD36-4EC6157FB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1EC86A-7F4D-764B-9E49-FE518CDB6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F5721EC-5F7F-8A44-A82D-A67D9D0A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20650"/>
            <a:ext cx="8318500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58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1D4D52-5051-434E-8A45-A8D9D7905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F47304-FB3E-114A-B3BF-8CFA22EB4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7902A89-AA8E-6F4C-A6BD-CF8020B2A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384300"/>
            <a:ext cx="83185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15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47143C-A648-F045-9B3D-FC1C915B6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CF4555-4863-6E4F-896D-8BF59C657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950AEA3-2964-AD46-B0D1-0CEC01A9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606550"/>
            <a:ext cx="83185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34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9D5D3-A7FA-9C49-B60F-13231BDE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143B6B-DC3A-5145-85A0-E5E59AC2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EBEAD79-2105-544D-85D4-9B518705F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606550"/>
            <a:ext cx="83185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5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C3696-C267-5C44-A0E9-C08F893F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D65354-5CC6-8944-AF24-B3494822C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1FFE340-4E1D-B344-8339-B57ADA995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69850"/>
            <a:ext cx="8318500" cy="671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43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6282E-49B1-3744-BA7B-1DF8D8E48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D36314-3FF7-9D40-A7DD-B9E034A3D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A77CE6E-3027-DD42-B781-63A9DA223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244600"/>
            <a:ext cx="83185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319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E672B5-1753-F64B-9345-D5F86C7F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FDADD6-20BC-334E-8015-A8D778461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1B965D-2ED1-F849-876B-3E5DEFBCA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0" y="1123950"/>
            <a:ext cx="83185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73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84744C-1AE8-BA44-9E5C-DAB8DEB3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Array </a:t>
            </a:r>
            <a:r>
              <a:rPr kumimoji="1" lang="zh-CN" altLang="en-US" b="1" dirty="0"/>
              <a:t>物件</a:t>
            </a:r>
            <a:endParaRPr kumimoji="1" lang="zh-TW" altLang="en-US" b="1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83222E9C-1732-6F40-9A7D-CBFAEA113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773966"/>
              </p:ext>
            </p:extLst>
          </p:nvPr>
        </p:nvGraphicFramePr>
        <p:xfrm>
          <a:off x="670890" y="1517880"/>
          <a:ext cx="11009244" cy="503966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547192">
                  <a:extLst>
                    <a:ext uri="{9D8B030D-6E8A-4147-A177-3AD203B41FA5}">
                      <a16:colId xmlns:a16="http://schemas.microsoft.com/office/drawing/2014/main" val="1437273004"/>
                    </a:ext>
                  </a:extLst>
                </a:gridCol>
                <a:gridCol w="2292626">
                  <a:extLst>
                    <a:ext uri="{9D8B030D-6E8A-4147-A177-3AD203B41FA5}">
                      <a16:colId xmlns:a16="http://schemas.microsoft.com/office/drawing/2014/main" val="2462896748"/>
                    </a:ext>
                  </a:extLst>
                </a:gridCol>
                <a:gridCol w="2955235">
                  <a:extLst>
                    <a:ext uri="{9D8B030D-6E8A-4147-A177-3AD203B41FA5}">
                      <a16:colId xmlns:a16="http://schemas.microsoft.com/office/drawing/2014/main" val="2707226871"/>
                    </a:ext>
                  </a:extLst>
                </a:gridCol>
                <a:gridCol w="4214191">
                  <a:extLst>
                    <a:ext uri="{9D8B030D-6E8A-4147-A177-3AD203B41FA5}">
                      <a16:colId xmlns:a16="http://schemas.microsoft.com/office/drawing/2014/main" val="2626544673"/>
                    </a:ext>
                  </a:extLst>
                </a:gridCol>
              </a:tblGrid>
              <a:tr h="223146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主題</a:t>
                      </a:r>
                    </a:p>
                  </a:txBody>
                  <a:tcPr marL="55786" marR="55786" marT="27893" marB="2789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方法 </a:t>
                      </a:r>
                      <a:r>
                        <a:rPr lang="en-US" altLang="zh-TW" sz="1600" dirty="0"/>
                        <a:t>/ </a:t>
                      </a:r>
                      <a:r>
                        <a:rPr lang="zh-TW" altLang="en-US" sz="1600" dirty="0"/>
                        <a:t>屬性</a:t>
                      </a:r>
                    </a:p>
                  </a:txBody>
                  <a:tcPr marL="55786" marR="55786" marT="27893" marB="2789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說明</a:t>
                      </a:r>
                    </a:p>
                  </a:txBody>
                  <a:tcPr marL="55786" marR="55786" marT="27893" marB="2789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範例</a:t>
                      </a:r>
                    </a:p>
                  </a:txBody>
                  <a:tcPr marL="55786" marR="55786" marT="27893" marB="27893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664163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建立陣列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/>
                        <a:t>[]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宣告陣列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let arr = [1,2,3];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468117785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zh-TW" altLang="en-US" sz="1600"/>
                        <a:t>存取元素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[index]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取或修改元素，索引從 </a:t>
                      </a:r>
                      <a:r>
                        <a:rPr lang="en-US" altLang="zh-TW" sz="1600"/>
                        <a:t>0 </a:t>
                      </a:r>
                      <a:r>
                        <a:rPr lang="zh-TW" altLang="en-US" sz="1600"/>
                        <a:t>開始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arr[0] = 10; console.log(arr[0]);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215500304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長度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.length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取得陣列元素個數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console.log(arr.length);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409766941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尾端新增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.push()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在陣列尾端增加元素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arr.push(4);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100999179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尾端刪除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.pop()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移除陣列尾端元素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arr.pop();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675520354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前端新增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.unshift()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在陣列前端增加元素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arr.unshift(0);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526573593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前端刪除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.shift()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移除陣列前端元素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arr.shift();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50022369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zh-TW" altLang="en-US" sz="1600"/>
                        <a:t>搜尋索引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.indexOf()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回傳元素索引，找不到回 </a:t>
                      </a:r>
                      <a:r>
                        <a:rPr lang="en-US" altLang="zh-TW" sz="1600"/>
                        <a:t>-1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arr.indexOf(2);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435272380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判斷存在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.includes()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判斷陣列是否包含元素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arr.includes(3);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362856749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zh-TW" altLang="en-US" sz="1600"/>
                        <a:t>遍歷陣列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for / for...of / forEach()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逐一處理陣列元素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arr.forEach((item)=&gt;console.log(item));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820756912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zh-TW" altLang="en-US" sz="1600"/>
                        <a:t>產生新陣列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.map()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根據原陣列元素生成新陣列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let double = arr.map(n=&gt;n*2);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514716361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zh-TW" altLang="en-US" sz="1600"/>
                        <a:t>篩選陣列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.filter()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選出符合條件的元素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let even = arr.filter(n=&gt;n%2===0);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498786141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zh-TW" altLang="en-US" sz="1600"/>
                        <a:t>累加 </a:t>
                      </a:r>
                      <a:r>
                        <a:rPr lang="en-US" altLang="zh-TW" sz="1600"/>
                        <a:t>/ </a:t>
                      </a:r>
                      <a:r>
                        <a:rPr lang="zh-TW" altLang="en-US" sz="1600"/>
                        <a:t>計算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.reduce()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對陣列元素累加或計算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let sum = arr.reduce((a,b)=&gt;a+b,0);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833886517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zh-TW" altLang="en-US" sz="1600"/>
                        <a:t>陣列展開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... (spread)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展開陣列元素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en" sz="1600" dirty="0" err="1"/>
                        <a:t>Math.max</a:t>
                      </a:r>
                      <a:r>
                        <a:rPr lang="en" sz="1600" dirty="0"/>
                        <a:t>(...</a:t>
                      </a:r>
                      <a:r>
                        <a:rPr lang="en" sz="1600" dirty="0" err="1"/>
                        <a:t>arr</a:t>
                      </a:r>
                      <a:r>
                        <a:rPr lang="en" sz="1600" dirty="0"/>
                        <a:t>);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485822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5591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0502D7-5BA2-A54B-91B1-4A35E85A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練習題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B4F53A-BD01-A443-B42D-EE0709688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array.html</a:t>
            </a:r>
            <a:r>
              <a:rPr kumimoji="1" lang="en-US" altLang="zh-TW" dirty="0"/>
              <a:t>, day2/array2.html, day2/array3.html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3266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E2D99B-E703-2B40-83BF-D9904243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b="1" dirty="0"/>
              <a:t>Object </a:t>
            </a:r>
            <a:r>
              <a:rPr lang="zh-TW" altLang="en-US" b="1" dirty="0"/>
              <a:t>物件</a:t>
            </a:r>
            <a:endParaRPr kumimoji="1" lang="zh-TW" altLang="en-US" b="1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96D73310-AC73-5B46-8B16-8B879A6D7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0118487"/>
              </p:ext>
            </p:extLst>
          </p:nvPr>
        </p:nvGraphicFramePr>
        <p:xfrm>
          <a:off x="838200" y="1783453"/>
          <a:ext cx="10850217" cy="38421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096881">
                  <a:extLst>
                    <a:ext uri="{9D8B030D-6E8A-4147-A177-3AD203B41FA5}">
                      <a16:colId xmlns:a16="http://schemas.microsoft.com/office/drawing/2014/main" val="2455403395"/>
                    </a:ext>
                  </a:extLst>
                </a:gridCol>
                <a:gridCol w="3929545">
                  <a:extLst>
                    <a:ext uri="{9D8B030D-6E8A-4147-A177-3AD203B41FA5}">
                      <a16:colId xmlns:a16="http://schemas.microsoft.com/office/drawing/2014/main" val="3390082648"/>
                    </a:ext>
                  </a:extLst>
                </a:gridCol>
                <a:gridCol w="4823791">
                  <a:extLst>
                    <a:ext uri="{9D8B030D-6E8A-4147-A177-3AD203B41FA5}">
                      <a16:colId xmlns:a16="http://schemas.microsoft.com/office/drawing/2014/main" val="165777766"/>
                    </a:ext>
                  </a:extLst>
                </a:gridCol>
              </a:tblGrid>
              <a:tr h="305357">
                <a:tc>
                  <a:txBody>
                    <a:bodyPr/>
                    <a:lstStyle/>
                    <a:p>
                      <a:r>
                        <a:rPr lang="zh-TW" altLang="en-US" sz="1600" b="1" dirty="0"/>
                        <a:t>主題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/>
                        <a:t>說明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/>
                        <a:t>範例</a:t>
                      </a:r>
                    </a:p>
                  </a:txBody>
                  <a:tcPr marL="76339" marR="76339" marT="38170" marB="3817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35975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建立物件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使用 </a:t>
                      </a:r>
                      <a:r>
                        <a:rPr lang="en-US" altLang="zh-TW" sz="1600"/>
                        <a:t>{} </a:t>
                      </a:r>
                      <a:r>
                        <a:rPr lang="zh-TW" altLang="en-US" sz="1600"/>
                        <a:t>建立一個物件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let user = {name: "Tom", age: 18};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64248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/>
                        <a:t>讀取屬性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使用「點記法」或「中括號」取值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user.name </a:t>
                      </a:r>
                      <a:r>
                        <a:rPr lang="zh-TW" altLang="en-US" sz="1600"/>
                        <a:t>或 </a:t>
                      </a:r>
                      <a:r>
                        <a:rPr lang="en" sz="1600"/>
                        <a:t>user["age"]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3256538748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新增屬性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動態增加新屬性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user.city = "Taipei";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4218653809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修改屬性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直接賦新值即可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user.age = 20;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399537685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刪除屬性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使用 </a:t>
                      </a:r>
                      <a:r>
                        <a:rPr lang="en" sz="1600"/>
                        <a:t>delete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delete user.age;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783990160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檢查屬性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使用 </a:t>
                      </a:r>
                      <a:r>
                        <a:rPr lang="en-US" altLang="zh-TW" sz="1600"/>
                        <a:t>"</a:t>
                      </a:r>
                      <a:r>
                        <a:rPr lang="zh-TW" altLang="en-US" sz="1600"/>
                        <a:t>屬性名</a:t>
                      </a:r>
                      <a:r>
                        <a:rPr lang="en-US" altLang="zh-TW" sz="1600"/>
                        <a:t>" </a:t>
                      </a:r>
                      <a:r>
                        <a:rPr lang="en" sz="1600"/>
                        <a:t>in </a:t>
                      </a:r>
                      <a:r>
                        <a:rPr lang="zh-TW" altLang="en-US" sz="1600"/>
                        <a:t>物件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"name" in user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917885642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取出所有鍵名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Object.keys(obj) → </a:t>
                      </a:r>
                      <a:r>
                        <a:rPr lang="zh-TW" altLang="en-US" sz="1600"/>
                        <a:t>回傳陣列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["name","age"]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70358069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取出所有值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Object.values(obj)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["Tom",18]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1748735173"/>
                  </a:ext>
                </a:extLst>
              </a:tr>
              <a:tr h="305357">
                <a:tc>
                  <a:txBody>
                    <a:bodyPr/>
                    <a:lstStyle/>
                    <a:p>
                      <a:r>
                        <a:rPr lang="zh-TW" altLang="en-US" sz="1600"/>
                        <a:t>取出鍵與值配對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Object.entries(obj)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[["name","Tom"],["age",18]]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128505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/>
                        <a:t>合併物件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Object.assign() </a:t>
                      </a:r>
                      <a:r>
                        <a:rPr lang="zh-TW" altLang="en-US" sz="1600"/>
                        <a:t>或展開運算子 </a:t>
                      </a:r>
                      <a:r>
                        <a:rPr lang="en-US" altLang="zh-TW" sz="1600"/>
                        <a:t>{...</a:t>
                      </a:r>
                      <a:r>
                        <a:rPr lang="en" sz="1600"/>
                        <a:t>a, ...b}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let newObj = {...obj1, ...obj2};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4288108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600"/>
                        <a:t>巢狀物件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物件中再放物件</a:t>
                      </a:r>
                    </a:p>
                  </a:txBody>
                  <a:tcPr marL="76339" marR="76339" marT="38170" marB="38170" anchor="ctr"/>
                </a:tc>
                <a:tc>
                  <a:txBody>
                    <a:bodyPr/>
                    <a:lstStyle/>
                    <a:p>
                      <a:r>
                        <a:rPr lang="en" sz="1600" dirty="0" err="1"/>
                        <a:t>user.address</a:t>
                      </a:r>
                      <a:r>
                        <a:rPr lang="en" sz="1600" dirty="0"/>
                        <a:t> = { city: "Taipei", zip: 100 };</a:t>
                      </a:r>
                    </a:p>
                  </a:txBody>
                  <a:tcPr marL="76339" marR="76339" marT="38170" marB="38170" anchor="ctr"/>
                </a:tc>
                <a:extLst>
                  <a:ext uri="{0D108BD9-81ED-4DB2-BD59-A6C34878D82A}">
                    <a16:rowId xmlns:a16="http://schemas.microsoft.com/office/drawing/2014/main" val="2261019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771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6974A6-D07B-7A4F-AB5B-A71B9178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物件序列化：</a:t>
            </a:r>
            <a:r>
              <a:rPr kumimoji="1" lang="en-US" altLang="zh-CN" b="1" dirty="0"/>
              <a:t>Object &lt;--&gt; String</a:t>
            </a:r>
            <a:endParaRPr kumimoji="1" lang="zh-TW" altLang="en-US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B4BEC14-81C9-C448-8152-9C38D94A02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20"/>
          <a:stretch/>
        </p:blipFill>
        <p:spPr>
          <a:xfrm>
            <a:off x="1724715" y="1611174"/>
            <a:ext cx="8313174" cy="48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35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0502D7-5BA2-A54B-91B1-4A35E85A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練習題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B4F53A-BD01-A443-B42D-EE0709688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object.html</a:t>
            </a:r>
            <a:r>
              <a:rPr kumimoji="1" lang="en-US" altLang="zh-TW" dirty="0"/>
              <a:t>, day2/object2.html, day3/object3.html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3332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593FDC-1B4E-C542-AEE1-6DDBCB35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Set</a:t>
            </a:r>
            <a:r>
              <a:rPr kumimoji="1" lang="zh-TW" altLang="en-US" b="1" dirty="0"/>
              <a:t> 物件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CCBEBD-4E6F-6845-8468-E780AD8C0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/>
              <a:t>什麼是 </a:t>
            </a:r>
            <a:r>
              <a:rPr lang="en" altLang="zh-TW" sz="3200" dirty="0"/>
              <a:t>Set</a:t>
            </a:r>
            <a:r>
              <a:rPr lang="zh-TW" altLang="en" sz="3200" dirty="0"/>
              <a:t>？</a:t>
            </a:r>
            <a:endParaRPr lang="en-US" altLang="zh-TW" sz="3200" dirty="0"/>
          </a:p>
          <a:p>
            <a:pPr lvl="1"/>
            <a:r>
              <a:rPr lang="en" altLang="zh-TW" sz="2800" dirty="0"/>
              <a:t>Set </a:t>
            </a:r>
            <a:r>
              <a:rPr lang="zh-TW" altLang="en-US" sz="2800" dirty="0"/>
              <a:t>是不會重複元素的集合。</a:t>
            </a:r>
            <a:br>
              <a:rPr lang="zh-TW" altLang="en-US" sz="2800" dirty="0"/>
            </a:br>
            <a:r>
              <a:rPr lang="zh-TW" altLang="en-US" sz="2800" dirty="0"/>
              <a:t>可以存任何型別：數字、字串、物件、陣列、布林值</a:t>
            </a:r>
            <a:r>
              <a:rPr lang="en-US" altLang="zh-TW" sz="2800" dirty="0"/>
              <a:t>…</a:t>
            </a:r>
            <a:r>
              <a:rPr lang="zh-TW" altLang="en-US" sz="2800" dirty="0"/>
              <a:t>都可以。</a:t>
            </a:r>
            <a:endParaRPr lang="en-US" altLang="zh-TW" sz="2800" dirty="0"/>
          </a:p>
          <a:p>
            <a:endParaRPr kumimoji="1" lang="en-US" altLang="zh-TW" sz="3200" dirty="0"/>
          </a:p>
          <a:p>
            <a:r>
              <a:rPr lang="zh-TW" altLang="en-US" sz="3200" dirty="0"/>
              <a:t>特性</a:t>
            </a:r>
            <a:endParaRPr lang="en-US" altLang="zh-TW" sz="3200" dirty="0"/>
          </a:p>
          <a:p>
            <a:pPr lvl="1"/>
            <a:r>
              <a:rPr lang="zh-TW" altLang="en-US" sz="2800" dirty="0"/>
              <a:t>元素不重複</a:t>
            </a:r>
            <a:endParaRPr lang="en-US" altLang="zh-TW" sz="2800" dirty="0"/>
          </a:p>
          <a:p>
            <a:pPr lvl="1"/>
            <a:r>
              <a:rPr lang="zh-TW" altLang="en-US" sz="2800" dirty="0"/>
              <a:t>可迭代（可用 </a:t>
            </a:r>
            <a:r>
              <a:rPr lang="en" altLang="zh-TW" sz="2800" dirty="0"/>
              <a:t>for…of</a:t>
            </a:r>
            <a:r>
              <a:rPr lang="zh-TW" altLang="en" sz="2800" dirty="0"/>
              <a:t>）</a:t>
            </a:r>
            <a:endParaRPr lang="en" altLang="zh-TW" sz="2800" dirty="0"/>
          </a:p>
          <a:p>
            <a:pPr lvl="1"/>
            <a:endParaRPr kumimoji="1"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95543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BBCF2-1CD2-6049-BEA4-8B55895D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Set </a:t>
            </a:r>
            <a:r>
              <a:rPr kumimoji="1" lang="zh-CN" altLang="en-US" b="1" dirty="0"/>
              <a:t>物件的屬性與方法</a:t>
            </a:r>
            <a:endParaRPr kumimoji="1" lang="zh-TW" altLang="en-US" b="1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374E3B38-12F5-1640-8758-7D8A4FF97A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229627"/>
              </p:ext>
            </p:extLst>
          </p:nvPr>
        </p:nvGraphicFramePr>
        <p:xfrm>
          <a:off x="838200" y="3380003"/>
          <a:ext cx="10515600" cy="21945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163883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414608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69185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方法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功能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範例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346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add(value)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加入元素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s.add(4)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8767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delete(value)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刪除元素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s.delete(2)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436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has(value)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是否存在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s.has(1) →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384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clear()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清空集合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s.clear()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734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元素數量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s.size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522154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52A5A8D2-DCC8-5449-A269-63524A8B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10" y="1553520"/>
            <a:ext cx="6564682" cy="165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79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C9BD6-6616-9B4E-9653-C7C88456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5A28D9-AAEB-6645-B0FC-ADE408244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0185AE-9986-2649-8962-85975FFC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18" y="283234"/>
            <a:ext cx="8469682" cy="360603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A7658BE-814D-DD47-9651-87E01E877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39330"/>
            <a:ext cx="83820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2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0502D7-5BA2-A54B-91B1-4A35E85A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練習題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B4F53A-BD01-A443-B42D-EE0709688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set.html</a:t>
            </a:r>
            <a:r>
              <a:rPr kumimoji="1" lang="en-US" altLang="zh-TW" dirty="0"/>
              <a:t>, day2/set2.html, day2/set3.html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9346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593FDC-1B4E-C542-AEE1-6DDBCB35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Map</a:t>
            </a:r>
            <a:r>
              <a:rPr kumimoji="1" lang="zh-TW" altLang="en-US" b="1" dirty="0"/>
              <a:t> 物件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CCBEBD-4E6F-6845-8468-E780AD8C0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TW" sz="2800" dirty="0"/>
              <a:t>Map </a:t>
            </a:r>
            <a:r>
              <a:rPr lang="zh-TW" altLang="en-US" sz="2800" dirty="0"/>
              <a:t>是一種 </a:t>
            </a:r>
            <a:r>
              <a:rPr lang="zh-TW" altLang="en-US" sz="2800" b="1" dirty="0"/>
              <a:t>鍵值對資料結構</a:t>
            </a:r>
            <a:r>
              <a:rPr lang="zh-TW" altLang="en-US" sz="2800" dirty="0"/>
              <a:t>（</a:t>
            </a:r>
            <a:r>
              <a:rPr lang="en" altLang="zh-TW" sz="2800" dirty="0"/>
              <a:t>key-value pairs</a:t>
            </a:r>
            <a:r>
              <a:rPr lang="zh-TW" altLang="en" sz="2800" dirty="0"/>
              <a:t>），</a:t>
            </a:r>
            <a:r>
              <a:rPr lang="zh-TW" altLang="en-US" sz="2800" dirty="0"/>
              <a:t>類似 </a:t>
            </a:r>
            <a:r>
              <a:rPr lang="en" altLang="zh-TW" sz="2800" dirty="0"/>
              <a:t>Object</a:t>
            </a:r>
            <a:r>
              <a:rPr lang="zh-TW" altLang="en" sz="2800" dirty="0"/>
              <a:t>，</a:t>
            </a:r>
            <a:r>
              <a:rPr lang="zh-TW" altLang="en-US" sz="2800" dirty="0"/>
              <a:t>但更強大。</a:t>
            </a:r>
            <a:endParaRPr kumimoji="1" lang="en-US" altLang="zh-TW" sz="3200" dirty="0"/>
          </a:p>
          <a:p>
            <a:pPr lvl="1"/>
            <a:endParaRPr kumimoji="1" lang="zh-TW" altLang="en-US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CE87C9-4CA3-AC47-8BBA-946255A6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320" y="2797850"/>
            <a:ext cx="7252570" cy="379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64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9DC109-C916-CA45-8A75-3530BC38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06070F89-41AC-DD46-A3E6-341DB13EC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320025"/>
              </p:ext>
            </p:extLst>
          </p:nvPr>
        </p:nvGraphicFramePr>
        <p:xfrm>
          <a:off x="150310" y="867352"/>
          <a:ext cx="11862149" cy="582228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752544">
                  <a:extLst>
                    <a:ext uri="{9D8B030D-6E8A-4147-A177-3AD203B41FA5}">
                      <a16:colId xmlns:a16="http://schemas.microsoft.com/office/drawing/2014/main" val="1662970694"/>
                    </a:ext>
                  </a:extLst>
                </a:gridCol>
                <a:gridCol w="3059535">
                  <a:extLst>
                    <a:ext uri="{9D8B030D-6E8A-4147-A177-3AD203B41FA5}">
                      <a16:colId xmlns:a16="http://schemas.microsoft.com/office/drawing/2014/main" val="1654761218"/>
                    </a:ext>
                  </a:extLst>
                </a:gridCol>
                <a:gridCol w="2511087">
                  <a:extLst>
                    <a:ext uri="{9D8B030D-6E8A-4147-A177-3AD203B41FA5}">
                      <a16:colId xmlns:a16="http://schemas.microsoft.com/office/drawing/2014/main" val="1919931068"/>
                    </a:ext>
                  </a:extLst>
                </a:gridCol>
                <a:gridCol w="3538983">
                  <a:extLst>
                    <a:ext uri="{9D8B030D-6E8A-4147-A177-3AD203B41FA5}">
                      <a16:colId xmlns:a16="http://schemas.microsoft.com/office/drawing/2014/main" val="3187230033"/>
                    </a:ext>
                  </a:extLst>
                </a:gridCol>
              </a:tblGrid>
              <a:tr h="220321">
                <a:tc>
                  <a:txBody>
                    <a:bodyPr/>
                    <a:lstStyle/>
                    <a:p>
                      <a:r>
                        <a:rPr lang="zh-TW" altLang="en-US" sz="1800" b="1" dirty="0"/>
                        <a:t>功能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1" dirty="0"/>
                        <a:t>語法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1" dirty="0"/>
                        <a:t>說明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1" dirty="0"/>
                        <a:t>範例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68237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建立 </a:t>
                      </a:r>
                      <a:r>
                        <a:rPr lang="en" sz="1800"/>
                        <a:t>Map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const map = new Map();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建立一個新的 </a:t>
                      </a:r>
                      <a:r>
                        <a:rPr lang="en" sz="1800"/>
                        <a:t>Map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const m = new Map();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507743264"/>
                  </a:ext>
                </a:extLst>
              </a:tr>
              <a:tr h="550802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用初始值建立 </a:t>
                      </a:r>
                      <a:r>
                        <a:rPr lang="en" sz="1800" dirty="0"/>
                        <a:t>Map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new Map([[key, value], ...])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建立時直接給 </a:t>
                      </a:r>
                      <a:r>
                        <a:rPr lang="en" sz="1800"/>
                        <a:t>key/value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const m = new Map([["name","Alice"],["age",20]]);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599875962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新增 </a:t>
                      </a:r>
                      <a:r>
                        <a:rPr lang="en-US" altLang="zh-TW" sz="1800"/>
                        <a:t>/ </a:t>
                      </a:r>
                      <a:r>
                        <a:rPr lang="zh-TW" altLang="en-US" sz="1800"/>
                        <a:t>設定值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map.set(key, value)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若 </a:t>
                      </a:r>
                      <a:r>
                        <a:rPr lang="en" sz="1800"/>
                        <a:t>key </a:t>
                      </a:r>
                      <a:r>
                        <a:rPr lang="zh-TW" altLang="en-US" sz="1800"/>
                        <a:t>存在會覆蓋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m.set("score", 90);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177897942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取得值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map.get(key)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找不到會回傳 </a:t>
                      </a:r>
                      <a:r>
                        <a:rPr lang="en" sz="1800"/>
                        <a:t>undefined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m.get("name"); // "Alice"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930327627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檢查 </a:t>
                      </a:r>
                      <a:r>
                        <a:rPr lang="en" sz="1800"/>
                        <a:t>key </a:t>
                      </a:r>
                      <a:r>
                        <a:rPr lang="zh-TW" altLang="en-US" sz="1800"/>
                        <a:t>是否存在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map.has(key)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回傳 </a:t>
                      </a:r>
                      <a:r>
                        <a:rPr lang="en" sz="1800"/>
                        <a:t>true / false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m.has("age"); // true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543480234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刪除項目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map.delete(key)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成功刪除回傳 </a:t>
                      </a:r>
                      <a:r>
                        <a:rPr lang="en" sz="1800"/>
                        <a:t>true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m.delete("score");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508808071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清空所有項目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map.clear()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移除全部 </a:t>
                      </a:r>
                      <a:r>
                        <a:rPr lang="en" sz="1800"/>
                        <a:t>key/value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m.clear();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46915270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取得項目數量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map.size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 </a:t>
                      </a:r>
                      <a:r>
                        <a:rPr lang="zh-TW" altLang="en-US" sz="1800"/>
                        <a:t>長度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m.size;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4191968836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zh-TW" altLang="en-US" sz="1800"/>
                        <a:t>遍歷 </a:t>
                      </a:r>
                      <a:r>
                        <a:rPr lang="en" sz="1800"/>
                        <a:t>Map（forEach）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map.forEach((value, key) =&gt; {})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拿到 </a:t>
                      </a:r>
                      <a:r>
                        <a:rPr lang="en" sz="1800"/>
                        <a:t>key </a:t>
                      </a:r>
                      <a:r>
                        <a:rPr lang="zh-TW" altLang="en-US" sz="1800"/>
                        <a:t>與 </a:t>
                      </a:r>
                      <a:r>
                        <a:rPr lang="en" sz="1800"/>
                        <a:t>value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m.forEach((v,k)=&gt;console.log(k,v));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513136620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遍歷 </a:t>
                      </a:r>
                      <a:r>
                        <a:rPr lang="en" sz="1800"/>
                        <a:t>keys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map.keys()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回傳 </a:t>
                      </a:r>
                      <a:r>
                        <a:rPr lang="en" sz="1800"/>
                        <a:t>iterator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for (let k of m.keys()) {}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996885490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遍歷 </a:t>
                      </a:r>
                      <a:r>
                        <a:rPr lang="en" sz="1800"/>
                        <a:t>values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map.values()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回傳 </a:t>
                      </a:r>
                      <a:r>
                        <a:rPr lang="en" sz="1800"/>
                        <a:t>iterator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for (let v of m.values()) {}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021593826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遍歷 </a:t>
                      </a:r>
                      <a:r>
                        <a:rPr lang="en" sz="1800"/>
                        <a:t>entries (key/value)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map.entries()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 </a:t>
                      </a:r>
                      <a:r>
                        <a:rPr lang="zh-TW" altLang="en-US" sz="1800"/>
                        <a:t>預設迭代器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for (let [k,v] of m) {}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094384269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用展開運算子轉 </a:t>
                      </a:r>
                      <a:r>
                        <a:rPr lang="en" sz="1800"/>
                        <a:t>array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[...map]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800"/>
                        <a:t>變成陣列結構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const arr = [...m];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96319698"/>
                  </a:ext>
                </a:extLst>
              </a:tr>
              <a:tr h="550802">
                <a:tc>
                  <a:txBody>
                    <a:bodyPr/>
                    <a:lstStyle/>
                    <a:p>
                      <a:r>
                        <a:rPr lang="zh-TW" altLang="en-US" sz="1800"/>
                        <a:t>從 </a:t>
                      </a:r>
                      <a:r>
                        <a:rPr lang="en" sz="1800"/>
                        <a:t>Object </a:t>
                      </a:r>
                      <a:r>
                        <a:rPr lang="zh-TW" altLang="en-US" sz="1800"/>
                        <a:t>轉 </a:t>
                      </a:r>
                      <a:r>
                        <a:rPr lang="en" sz="1800"/>
                        <a:t>Map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new Map(Object.entries(obj))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Object → Map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new Map(Object.entries({a:1,b:2}))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410905989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800"/>
                        <a:t>從 </a:t>
                      </a:r>
                      <a:r>
                        <a:rPr lang="en" sz="1800"/>
                        <a:t>Map </a:t>
                      </a:r>
                      <a:r>
                        <a:rPr lang="zh-TW" altLang="en-US" sz="1800"/>
                        <a:t>轉回 </a:t>
                      </a:r>
                      <a:r>
                        <a:rPr lang="en" sz="1800"/>
                        <a:t>Object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Object.fromEntries(map)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/>
                        <a:t>Map → Object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800" dirty="0" err="1"/>
                        <a:t>Object.fromEntries</a:t>
                      </a:r>
                      <a:r>
                        <a:rPr lang="en" sz="1800" dirty="0"/>
                        <a:t>(m)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155429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3073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0502D7-5BA2-A54B-91B1-4A35E85A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練習題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B4F53A-BD01-A443-B42D-EE0709688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map.html</a:t>
            </a:r>
            <a:r>
              <a:rPr kumimoji="1" lang="en-US" altLang="zh-TW" dirty="0"/>
              <a:t>, day2/map2.html, day2/map3.html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177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9F521-580F-C943-8109-263E33A2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Math </a:t>
            </a:r>
            <a:r>
              <a:rPr kumimoji="1" lang="zh-CN" altLang="en-US" b="1" dirty="0"/>
              <a:t>物件</a:t>
            </a:r>
            <a:r>
              <a:rPr kumimoji="1" lang="en-US" altLang="zh-CN" b="1" dirty="0"/>
              <a:t> - </a:t>
            </a:r>
            <a:r>
              <a:rPr kumimoji="1" lang="zh-CN" altLang="en-US" b="1" dirty="0"/>
              <a:t>常用屬性</a:t>
            </a:r>
            <a:endParaRPr kumimoji="1" lang="zh-TW" altLang="en-US" b="1" dirty="0"/>
          </a:p>
        </p:txBody>
      </p:sp>
      <p:graphicFrame>
        <p:nvGraphicFramePr>
          <p:cNvPr id="12" name="內容版面配置區 11">
            <a:extLst>
              <a:ext uri="{FF2B5EF4-FFF2-40B4-BE49-F238E27FC236}">
                <a16:creationId xmlns:a16="http://schemas.microsoft.com/office/drawing/2014/main" id="{C63782E5-8FB0-934B-A179-9765635D43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293454"/>
              </p:ext>
            </p:extLst>
          </p:nvPr>
        </p:nvGraphicFramePr>
        <p:xfrm>
          <a:off x="838200" y="1690688"/>
          <a:ext cx="10515600" cy="1828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798808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823779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27007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屬性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說明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範例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03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 err="1"/>
                        <a:t>Math.PI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圓周率 </a:t>
                      </a:r>
                      <a:r>
                        <a:rPr lang="el-GR"/>
                        <a:t>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3.14159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379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 err="1"/>
                        <a:t>Math.E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自然常數 </a:t>
                      </a:r>
                      <a:r>
                        <a:rPr lang="en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2.71828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202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Math.SQRT2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√</a:t>
                      </a:r>
                      <a:r>
                        <a:rPr lang="en-US" altLang="zh-TW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1.4142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710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Math.LN2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ln(2)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0.693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448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481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9F521-580F-C943-8109-263E33A2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Math </a:t>
            </a:r>
            <a:r>
              <a:rPr kumimoji="1" lang="zh-CN" altLang="en-US" b="1" dirty="0"/>
              <a:t>物件</a:t>
            </a:r>
            <a:r>
              <a:rPr kumimoji="1" lang="en-US" altLang="zh-CN" b="1" dirty="0"/>
              <a:t> – </a:t>
            </a:r>
            <a:r>
              <a:rPr kumimoji="1" lang="zh-CN" altLang="en-US" b="1" dirty="0"/>
              <a:t>常用方法</a:t>
            </a:r>
            <a:endParaRPr kumimoji="1" lang="zh-TW" altLang="en-US" b="1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DC629C3E-D91E-A041-B172-135FF3B65D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955023"/>
              </p:ext>
            </p:extLst>
          </p:nvPr>
        </p:nvGraphicFramePr>
        <p:xfrm>
          <a:off x="838200" y="1920704"/>
          <a:ext cx="10515600" cy="1828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51646791"/>
                    </a:ext>
                  </a:extLst>
                </a:gridCol>
                <a:gridCol w="4204252">
                  <a:extLst>
                    <a:ext uri="{9D8B030D-6E8A-4147-A177-3AD203B41FA5}">
                      <a16:colId xmlns:a16="http://schemas.microsoft.com/office/drawing/2014/main" val="3719538543"/>
                    </a:ext>
                  </a:extLst>
                </a:gridCol>
                <a:gridCol w="2806148">
                  <a:extLst>
                    <a:ext uri="{9D8B030D-6E8A-4147-A177-3AD203B41FA5}">
                      <a16:colId xmlns:a16="http://schemas.microsoft.com/office/drawing/2014/main" val="832045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函式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說明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範例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31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dirty="0" err="1"/>
                        <a:t>Math.round</a:t>
                      </a:r>
                      <a:r>
                        <a:rPr lang="en" dirty="0"/>
                        <a:t>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四捨五入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Math.round(3.6) →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50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Math.floor(x)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無條件捨去（往下取整）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Math.floor(3.9) →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508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Math.ceil(x)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無條件進位（往上取整）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Math.ceil(3.1) →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28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altLang="zh-TW" dirty="0" err="1"/>
                        <a:t>Math.random</a:t>
                      </a:r>
                      <a:r>
                        <a:rPr lang="en" altLang="zh-TW" dirty="0"/>
                        <a:t>()</a:t>
                      </a:r>
                      <a:endParaRPr lang="e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回傳 </a:t>
                      </a:r>
                      <a:r>
                        <a:rPr lang="en-US" altLang="zh-TW" dirty="0"/>
                        <a:t>0 ~ 1 </a:t>
                      </a:r>
                      <a:r>
                        <a:rPr lang="zh-TW" altLang="en-US" dirty="0"/>
                        <a:t>之間的隨機小數（不含 </a:t>
                      </a:r>
                      <a:r>
                        <a:rPr lang="en-US" altLang="zh-TW" dirty="0"/>
                        <a:t>1</a:t>
                      </a:r>
                      <a:r>
                        <a:rPr lang="zh-TW" altLang="en-US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例如 </a:t>
                      </a:r>
                      <a:r>
                        <a:rPr lang="en-US" altLang="zh-TW" dirty="0"/>
                        <a:t>0.54321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939331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9C8ABA6C-3DE4-E84F-BDE9-D7C5C643F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763" y="3979520"/>
            <a:ext cx="8657106" cy="254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659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D9A66-22D8-CF44-9B71-AB913D8D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Math </a:t>
            </a:r>
            <a:r>
              <a:rPr kumimoji="1" lang="zh-CN" altLang="en-US" b="1" dirty="0"/>
              <a:t>物件</a:t>
            </a:r>
            <a:r>
              <a:rPr kumimoji="1" lang="en-US" altLang="zh-CN" b="1" dirty="0"/>
              <a:t> – </a:t>
            </a:r>
            <a:r>
              <a:rPr kumimoji="1" lang="zh-CN" altLang="en-US" b="1" dirty="0"/>
              <a:t>常用方法</a:t>
            </a:r>
            <a:endParaRPr kumimoji="1"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187BA689-9CC6-B344-BAA9-C0F4CA4EA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8040292"/>
              </p:ext>
            </p:extLst>
          </p:nvPr>
        </p:nvGraphicFramePr>
        <p:xfrm>
          <a:off x="838200" y="2209600"/>
          <a:ext cx="10515600" cy="146304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056064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398690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4158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b="1"/>
                        <a:t>函式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/>
                        <a:t>說明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b="1" dirty="0"/>
                        <a:t>範例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63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Math.abs(x)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絕對值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Math.abs(-10) →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560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Math.max(a, b, c…)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最大值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/>
                        <a:t>Math.max(5, 9, 1) → 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28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/>
                        <a:t>Math.min(a, b, c…)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/>
                        <a:t>最小值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dirty="0" err="1"/>
                        <a:t>Math.min</a:t>
                      </a:r>
                      <a:r>
                        <a:rPr lang="en" dirty="0"/>
                        <a:t>(5, 9, 1) →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346062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9661EE5C-EDC1-4C45-B12D-4E804DB53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54663"/>
            <a:ext cx="79629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471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D21EF-4D6A-794B-8043-7E742FC5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練習題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D043E2-1978-FD4E-9F78-F34E1170D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math.html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6458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A6F86D-D9F2-ED4F-A751-A6D5DA03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String </a:t>
            </a:r>
            <a:r>
              <a:rPr kumimoji="1" lang="zh-CN" altLang="en-US" b="1" dirty="0"/>
              <a:t>物件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– </a:t>
            </a:r>
            <a:r>
              <a:rPr kumimoji="1" lang="zh-CN" altLang="en-US" b="1" dirty="0"/>
              <a:t>常用屬性與方法</a:t>
            </a:r>
            <a:endParaRPr kumimoji="1" lang="zh-TW" altLang="en-US" b="1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263DD7C1-B5F9-2742-96F6-F4AEEFE92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962600"/>
              </p:ext>
            </p:extLst>
          </p:nvPr>
        </p:nvGraphicFramePr>
        <p:xfrm>
          <a:off x="838200" y="1520938"/>
          <a:ext cx="10346636" cy="4665738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109870">
                  <a:extLst>
                    <a:ext uri="{9D8B030D-6E8A-4147-A177-3AD203B41FA5}">
                      <a16:colId xmlns:a16="http://schemas.microsoft.com/office/drawing/2014/main" val="4065307888"/>
                    </a:ext>
                  </a:extLst>
                </a:gridCol>
                <a:gridCol w="2358887">
                  <a:extLst>
                    <a:ext uri="{9D8B030D-6E8A-4147-A177-3AD203B41FA5}">
                      <a16:colId xmlns:a16="http://schemas.microsoft.com/office/drawing/2014/main" val="1266383955"/>
                    </a:ext>
                  </a:extLst>
                </a:gridCol>
                <a:gridCol w="3286539">
                  <a:extLst>
                    <a:ext uri="{9D8B030D-6E8A-4147-A177-3AD203B41FA5}">
                      <a16:colId xmlns:a16="http://schemas.microsoft.com/office/drawing/2014/main" val="1198583056"/>
                    </a:ext>
                  </a:extLst>
                </a:gridCol>
                <a:gridCol w="3591340">
                  <a:extLst>
                    <a:ext uri="{9D8B030D-6E8A-4147-A177-3AD203B41FA5}">
                      <a16:colId xmlns:a16="http://schemas.microsoft.com/office/drawing/2014/main" val="3106618005"/>
                    </a:ext>
                  </a:extLst>
                </a:gridCol>
              </a:tblGrid>
              <a:tr h="220321">
                <a:tc>
                  <a:txBody>
                    <a:bodyPr/>
                    <a:lstStyle/>
                    <a:p>
                      <a:r>
                        <a:rPr lang="zh-TW" altLang="en-US" sz="1600" b="1" dirty="0"/>
                        <a:t>類型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/>
                        <a:t>方法 </a:t>
                      </a:r>
                      <a:r>
                        <a:rPr lang="en-US" altLang="zh-TW" sz="1600" b="1"/>
                        <a:t>/ </a:t>
                      </a:r>
                      <a:r>
                        <a:rPr lang="zh-TW" altLang="en-US" sz="1600" b="1"/>
                        <a:t>屬性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/>
                        <a:t>說明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600" b="1" dirty="0"/>
                        <a:t>範例</a:t>
                      </a:r>
                    </a:p>
                  </a:txBody>
                  <a:tcPr marL="55080" marR="55080" marT="27540" marB="2754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268927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600"/>
                        <a:t>屬性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.length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回傳字串長度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 dirty="0"/>
                        <a:t>"</a:t>
                      </a:r>
                      <a:r>
                        <a:rPr lang="en" sz="1600" dirty="0" err="1"/>
                        <a:t>Hello".length</a:t>
                      </a:r>
                      <a:r>
                        <a:rPr lang="en" sz="1600" dirty="0"/>
                        <a:t> → 5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95945262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zh-TW" altLang="en-US" sz="1600"/>
                        <a:t>取字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.charAt(n)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回傳第 </a:t>
                      </a:r>
                      <a:r>
                        <a:rPr lang="en" sz="1600"/>
                        <a:t>n </a:t>
                      </a:r>
                      <a:r>
                        <a:rPr lang="zh-TW" altLang="en-US" sz="1600"/>
                        <a:t>個字元（從 </a:t>
                      </a:r>
                      <a:r>
                        <a:rPr lang="en-US" altLang="zh-TW" sz="1600"/>
                        <a:t>0 </a:t>
                      </a:r>
                      <a:r>
                        <a:rPr lang="zh-TW" altLang="en-US" sz="1600"/>
                        <a:t>開始）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"Hi".charAt(1) → "i"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866726182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zh-TW" altLang="en-US" sz="1600"/>
                        <a:t>取子字串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.slice(start, end)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取出部分字串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"Banana".slice(0,3) → "Ban"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403021760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.substring(start, end)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同上，但不接受負數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"Hello".substring(1,4) → "ell"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4156486581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zh-TW" altLang="en-US" sz="1600"/>
                        <a:t>大小寫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.toUpperCase()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全轉大寫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"hi".toUpperCase() → "HI"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450595571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.toLowerCase()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全轉小寫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"HI".toLowerCase() → "hi"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084080546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600"/>
                        <a:t>搜尋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.indexOf(str)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回傳第一次出現的位置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"apple".indexOf("p") → 1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693503478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endParaRPr lang="zh-TW" altLang="en-US" sz="16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.includes(str)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判斷是否包含子字串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"hello".includes("he") → true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504629193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zh-TW" altLang="en-US" sz="1600"/>
                        <a:t>替換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.replace(a, b)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取代第一個符合文字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"cat".replace("c","b") → "bat"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472167535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zh-TW" altLang="en-US" sz="1600"/>
                        <a:t>切割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.split(separator)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以指定符號分割成陣列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"a,b,c".split(",") → ["a","b","c"]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640602115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r>
                        <a:rPr lang="zh-TW" altLang="en-US" sz="1600"/>
                        <a:t>組合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.concat(str)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合併字串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"Hi".concat(" there") → "Hi there"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366531259"/>
                  </a:ext>
                </a:extLst>
              </a:tr>
              <a:tr h="220321">
                <a:tc>
                  <a:txBody>
                    <a:bodyPr/>
                    <a:lstStyle/>
                    <a:p>
                      <a:r>
                        <a:rPr lang="zh-TW" altLang="en-US" sz="1600"/>
                        <a:t>去除空白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/>
                        <a:t>.trim()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/>
                        <a:t>移除開頭與結尾的空白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" sz="1600" dirty="0"/>
                        <a:t>" hi ".trim() → "hi"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09724178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837C8EE-F831-D34D-82BF-7FEA347B3B46}"/>
              </a:ext>
            </a:extLst>
          </p:cNvPr>
          <p:cNvSpPr txBox="1"/>
          <p:nvPr/>
        </p:nvSpPr>
        <p:spPr>
          <a:xfrm>
            <a:off x="5313364" y="6281531"/>
            <a:ext cx="6040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注意！使用屬性與方法時，一定要確認是否為 </a:t>
            </a:r>
            <a:r>
              <a:rPr kumimoji="1" lang="en-US" altLang="zh-TW" dirty="0">
                <a:solidFill>
                  <a:srgbClr val="FF0000"/>
                </a:solidFill>
              </a:rPr>
              <a:t> String </a:t>
            </a:r>
            <a:r>
              <a:rPr kumimoji="1" lang="zh-CN" altLang="en-US" dirty="0">
                <a:solidFill>
                  <a:srgbClr val="FF0000"/>
                </a:solidFill>
              </a:rPr>
              <a:t>型別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018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D21EF-4D6A-794B-8043-7E742FC5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練習題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D043E2-1978-FD4E-9F78-F34E1170D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string.html</a:t>
            </a:r>
            <a:r>
              <a:rPr kumimoji="1" lang="en-US" altLang="zh-TW" dirty="0"/>
              <a:t>, day2/string2.html, day2/string3.html, day2/string4.html</a:t>
            </a:r>
            <a:endParaRPr kumimoji="1" lang="zh-TW" altLang="en-US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056778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528B1C-D598-8942-B944-582F3296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setTimeout, </a:t>
            </a:r>
            <a:r>
              <a:rPr kumimoji="1" lang="en-US" altLang="zh-TW" b="1" dirty="0" err="1"/>
              <a:t>setInterval</a:t>
            </a:r>
            <a:endParaRPr kumimoji="1" lang="zh-TW" altLang="en-US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D0BDFBE-300F-E443-B9F4-9312495C8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19" y="2032898"/>
            <a:ext cx="5683842" cy="297642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5066C58-BBBD-814E-9C82-D63AA2B78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062" y="2032898"/>
            <a:ext cx="6053720" cy="317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786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D21EF-4D6A-794B-8043-7E742FC5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練習題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D043E2-1978-FD4E-9F78-F34E1170D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setInterval.html</a:t>
            </a:r>
            <a:endParaRPr kumimoji="1" lang="zh-TW" altLang="en-US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19837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A6F86D-D9F2-ED4F-A751-A6D5DA03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/>
              <a:t>Date </a:t>
            </a:r>
            <a:r>
              <a:rPr kumimoji="1" lang="zh-CN" altLang="en-US" b="1" dirty="0"/>
              <a:t>物件</a:t>
            </a:r>
            <a:r>
              <a:rPr kumimoji="1" lang="zh-TW" altLang="en-US" b="1" dirty="0"/>
              <a:t> </a:t>
            </a:r>
            <a:r>
              <a:rPr kumimoji="1" lang="en-US" altLang="zh-TW" b="1" dirty="0"/>
              <a:t>– </a:t>
            </a:r>
            <a:r>
              <a:rPr kumimoji="1" lang="zh-CN" altLang="en-US" b="1" dirty="0"/>
              <a:t>常用屬性與方法</a:t>
            </a:r>
            <a:endParaRPr kumimoji="1" lang="zh-TW" altLang="en-US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837C8EE-F831-D34D-82BF-7FEA347B3B46}"/>
              </a:ext>
            </a:extLst>
          </p:cNvPr>
          <p:cNvSpPr txBox="1"/>
          <p:nvPr/>
        </p:nvSpPr>
        <p:spPr>
          <a:xfrm>
            <a:off x="5273608" y="6003235"/>
            <a:ext cx="5862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注意！使用屬性與方法時，一定要確認是否為 </a:t>
            </a:r>
            <a:r>
              <a:rPr kumimoji="1" lang="en-US" altLang="zh-TW" dirty="0">
                <a:solidFill>
                  <a:srgbClr val="FF0000"/>
                </a:solidFill>
              </a:rPr>
              <a:t> Date </a:t>
            </a:r>
            <a:r>
              <a:rPr kumimoji="1" lang="zh-CN" altLang="en-US" dirty="0">
                <a:solidFill>
                  <a:srgbClr val="FF0000"/>
                </a:solidFill>
              </a:rPr>
              <a:t>型別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3CEAF57-B0F1-E149-9422-2ACD1E980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42832"/>
              </p:ext>
            </p:extLst>
          </p:nvPr>
        </p:nvGraphicFramePr>
        <p:xfrm>
          <a:off x="1190080" y="1500554"/>
          <a:ext cx="9811840" cy="43918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452960">
                  <a:extLst>
                    <a:ext uri="{9D8B030D-6E8A-4147-A177-3AD203B41FA5}">
                      <a16:colId xmlns:a16="http://schemas.microsoft.com/office/drawing/2014/main" val="953216209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516288712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1408619137"/>
                    </a:ext>
                  </a:extLst>
                </a:gridCol>
                <a:gridCol w="2452960">
                  <a:extLst>
                    <a:ext uri="{9D8B030D-6E8A-4147-A177-3AD203B41FA5}">
                      <a16:colId xmlns:a16="http://schemas.microsoft.com/office/drawing/2014/main" val="3589726390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r>
                        <a:rPr lang="zh-TW" altLang="en-US" sz="1700" b="1" dirty="0"/>
                        <a:t>類別</a:t>
                      </a:r>
                    </a:p>
                  </a:txBody>
                  <a:tcPr marL="85320" marR="85320" marT="42660" marB="4266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00" b="1"/>
                        <a:t>方法</a:t>
                      </a:r>
                    </a:p>
                  </a:txBody>
                  <a:tcPr marL="85320" marR="85320" marT="42660" marB="4266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00" b="1" dirty="0"/>
                        <a:t>範例</a:t>
                      </a:r>
                    </a:p>
                  </a:txBody>
                  <a:tcPr marL="85320" marR="85320" marT="42660" marB="4266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700" b="1" dirty="0"/>
                        <a:t>結果</a:t>
                      </a:r>
                    </a:p>
                  </a:txBody>
                  <a:tcPr marL="85320" marR="85320" marT="42660" marB="4266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84439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取得時間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getFullYear()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now.getFullYear()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2025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93840339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取得月份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getMonth()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now.getMonth()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10</a:t>
                      </a:r>
                      <a:r>
                        <a:rPr lang="zh-TW" altLang="en-US" sz="1700"/>
                        <a:t>（代表 </a:t>
                      </a:r>
                      <a:r>
                        <a:rPr lang="en-US" altLang="zh-TW" sz="1700"/>
                        <a:t>11 </a:t>
                      </a:r>
                      <a:r>
                        <a:rPr lang="zh-TW" altLang="en-US" sz="1700"/>
                        <a:t>月）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16652732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取得日期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getDate()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now.getDate()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11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06139786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取得星期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getDay()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now.getDay()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2</a:t>
                      </a:r>
                      <a:r>
                        <a:rPr lang="zh-TW" altLang="en-US" sz="1700"/>
                        <a:t>（星期二）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35373870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取得時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getHours()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now.getHours()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13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22781819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取得分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getMinutes()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now.getMinutes()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45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79722311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取得秒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getSeconds()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now.getSeconds()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23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78460382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取得毫秒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getMilliseconds()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now.getMilliseconds()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512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26127038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時間戳記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getTime()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now.getTime()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zh-TW" altLang="en-US" sz="1700" dirty="0"/>
                        <a:t>自 </a:t>
                      </a:r>
                      <a:r>
                        <a:rPr lang="en-US" altLang="zh-TW" sz="1700" dirty="0"/>
                        <a:t>1970 </a:t>
                      </a:r>
                      <a:r>
                        <a:rPr lang="zh-TW" altLang="en-US" sz="1700" dirty="0"/>
                        <a:t>起的毫秒數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68702625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zh-TW" altLang="en-US" sz="1700"/>
                        <a:t>設定時間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setFullYear(2026)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zh-TW" altLang="en-US" sz="1700"/>
                        <a:t>改變年份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/>
                        <a:t>—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57916728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zh-TW" altLang="en-US" sz="1700"/>
                        <a:t>格式化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" sz="1700"/>
                        <a:t>toLocaleString()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zh-TW" altLang="en-US" sz="1700"/>
                        <a:t>依使用者語言輸出時間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US" altLang="zh-TW" sz="1700" dirty="0"/>
                        <a:t>"2025/11/11 </a:t>
                      </a:r>
                      <a:r>
                        <a:rPr lang="zh-TW" altLang="en-US" sz="1700" dirty="0"/>
                        <a:t>下午</a:t>
                      </a:r>
                      <a:r>
                        <a:rPr lang="en-US" altLang="zh-TW" sz="1700" dirty="0"/>
                        <a:t>1:00:00"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82872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327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FF509AB-3759-DB47-9D1B-11C1380F7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218" y="431386"/>
            <a:ext cx="8673044" cy="587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347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244748A-C863-6A4E-8566-72FF22D6C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19" y="365125"/>
            <a:ext cx="8318500" cy="4876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C868A20-35A4-8F48-B495-AF4A84E4BC86}"/>
              </a:ext>
            </a:extLst>
          </p:cNvPr>
          <p:cNvSpPr/>
          <p:nvPr/>
        </p:nvSpPr>
        <p:spPr>
          <a:xfrm>
            <a:off x="574775" y="6318839"/>
            <a:ext cx="2355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1970/1/1 00:00:00.000</a:t>
            </a:r>
            <a:endParaRPr lang="zh-TW" altLang="en-US" dirty="0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63CFEBB-33BC-AC4A-A1A3-32F49CCD7C67}"/>
              </a:ext>
            </a:extLst>
          </p:cNvPr>
          <p:cNvSpPr/>
          <p:nvPr/>
        </p:nvSpPr>
        <p:spPr>
          <a:xfrm>
            <a:off x="1586689" y="5912905"/>
            <a:ext cx="331304" cy="3180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728C503-DD61-B744-A738-5F7D46457D44}"/>
              </a:ext>
            </a:extLst>
          </p:cNvPr>
          <p:cNvSpPr/>
          <p:nvPr/>
        </p:nvSpPr>
        <p:spPr>
          <a:xfrm>
            <a:off x="10374519" y="5902088"/>
            <a:ext cx="331304" cy="3180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09ECCA-EB8D-F44D-8F97-8CEFAC90770E}"/>
              </a:ext>
            </a:extLst>
          </p:cNvPr>
          <p:cNvSpPr/>
          <p:nvPr/>
        </p:nvSpPr>
        <p:spPr>
          <a:xfrm>
            <a:off x="9245586" y="6361030"/>
            <a:ext cx="2589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2025/12/31 00:00:00.000</a:t>
            </a:r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56670B4-2EB7-8345-A0B0-F4ABD6BF2ABC}"/>
              </a:ext>
            </a:extLst>
          </p:cNvPr>
          <p:cNvSpPr/>
          <p:nvPr/>
        </p:nvSpPr>
        <p:spPr>
          <a:xfrm>
            <a:off x="6339232" y="5915340"/>
            <a:ext cx="331304" cy="3180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26BE134-D6D5-9042-BA35-71F09973D404}"/>
              </a:ext>
            </a:extLst>
          </p:cNvPr>
          <p:cNvSpPr/>
          <p:nvPr/>
        </p:nvSpPr>
        <p:spPr>
          <a:xfrm>
            <a:off x="6194991" y="6318839"/>
            <a:ext cx="6197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Now</a:t>
            </a:r>
            <a:endParaRPr lang="zh-TW" altLang="en-US" dirty="0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E57E1B68-8099-3740-995D-31072A59850B}"/>
              </a:ext>
            </a:extLst>
          </p:cNvPr>
          <p:cNvCxnSpPr>
            <a:stCxn id="6" idx="6"/>
          </p:cNvCxnSpPr>
          <p:nvPr/>
        </p:nvCxnSpPr>
        <p:spPr>
          <a:xfrm>
            <a:off x="1917993" y="6071931"/>
            <a:ext cx="4421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385C8B97-4BE3-674F-A221-E20DE89F6AB6}"/>
              </a:ext>
            </a:extLst>
          </p:cNvPr>
          <p:cNvCxnSpPr>
            <a:cxnSpLocks/>
          </p:cNvCxnSpPr>
          <p:nvPr/>
        </p:nvCxnSpPr>
        <p:spPr>
          <a:xfrm flipV="1">
            <a:off x="1752341" y="5665998"/>
            <a:ext cx="8787830" cy="19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F981A61-A0A1-9442-99E4-859FCF9F48FB}"/>
              </a:ext>
            </a:extLst>
          </p:cNvPr>
          <p:cNvSpPr txBox="1"/>
          <p:nvPr/>
        </p:nvSpPr>
        <p:spPr>
          <a:xfrm>
            <a:off x="4221378" y="3445565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(a)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DB7453E-3DD1-E04E-83F5-92D581071146}"/>
              </a:ext>
            </a:extLst>
          </p:cNvPr>
          <p:cNvSpPr txBox="1"/>
          <p:nvPr/>
        </p:nvSpPr>
        <p:spPr>
          <a:xfrm>
            <a:off x="6028857" y="3445565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(b)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B341AB5-E126-6E46-8696-11625F430752}"/>
              </a:ext>
            </a:extLst>
          </p:cNvPr>
          <p:cNvSpPr txBox="1"/>
          <p:nvPr/>
        </p:nvSpPr>
        <p:spPr>
          <a:xfrm>
            <a:off x="4039683" y="5876448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(b)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F193AB8-115E-E243-A16A-718F12793928}"/>
              </a:ext>
            </a:extLst>
          </p:cNvPr>
          <p:cNvSpPr txBox="1"/>
          <p:nvPr/>
        </p:nvSpPr>
        <p:spPr>
          <a:xfrm>
            <a:off x="7806091" y="5481332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(a)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7039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4D21EF-4D6A-794B-8043-7E742FC50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練習題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D043E2-1978-FD4E-9F78-F34E1170D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day2/</a:t>
            </a:r>
            <a:r>
              <a:rPr kumimoji="1" lang="en-US" altLang="zh-TW" dirty="0" err="1"/>
              <a:t>date.html</a:t>
            </a:r>
            <a:r>
              <a:rPr kumimoji="1" lang="en-US" altLang="zh-TW" dirty="0"/>
              <a:t>, day2/date2.html</a:t>
            </a:r>
            <a:endParaRPr kumimoji="1" lang="zh-TW" altLang="en-US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2061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1939</Words>
  <Application>Microsoft Macintosh PowerPoint</Application>
  <PresentationFormat>寬螢幕</PresentationFormat>
  <Paragraphs>421</Paragraphs>
  <Slides>45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2" baseType="lpstr">
      <vt:lpstr>新細明體</vt:lpstr>
      <vt:lpstr>等线</vt:lpstr>
      <vt:lpstr>等线 Light</vt:lpstr>
      <vt:lpstr>Arial</vt:lpstr>
      <vt:lpstr>Calibri</vt:lpstr>
      <vt:lpstr>Calibri Light</vt:lpstr>
      <vt:lpstr>Office 佈景主題</vt:lpstr>
      <vt:lpstr>Javascript 教學</vt:lpstr>
      <vt:lpstr>Outline</vt:lpstr>
      <vt:lpstr>Javascript 的七種基礎型別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JavaScript 流程控制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Array 物件</vt:lpstr>
      <vt:lpstr>練習題</vt:lpstr>
      <vt:lpstr>Object 物件</vt:lpstr>
      <vt:lpstr>物件序列化：Object &lt;--&gt; String</vt:lpstr>
      <vt:lpstr>練習題</vt:lpstr>
      <vt:lpstr>Set 物件</vt:lpstr>
      <vt:lpstr>Set 物件的屬性與方法</vt:lpstr>
      <vt:lpstr>PowerPoint 簡報</vt:lpstr>
      <vt:lpstr>練習題</vt:lpstr>
      <vt:lpstr>Map 物件</vt:lpstr>
      <vt:lpstr>PowerPoint 簡報</vt:lpstr>
      <vt:lpstr>練習題</vt:lpstr>
      <vt:lpstr>Math 物件 - 常用屬性</vt:lpstr>
      <vt:lpstr>Math 物件 – 常用方法</vt:lpstr>
      <vt:lpstr>Math 物件 – 常用方法</vt:lpstr>
      <vt:lpstr>練習題</vt:lpstr>
      <vt:lpstr>String 物件 – 常用屬性與方法</vt:lpstr>
      <vt:lpstr>練習題</vt:lpstr>
      <vt:lpstr>setTimeout, setInterval</vt:lpstr>
      <vt:lpstr>練習題</vt:lpstr>
      <vt:lpstr>Date 物件 – 常用屬性與方法</vt:lpstr>
      <vt:lpstr>PowerPoint 簡報</vt:lpstr>
      <vt:lpstr>PowerPoint 簡報</vt:lpstr>
      <vt:lpstr>練習題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常用物件</dc:title>
  <dc:creator>Microsoft Office User</dc:creator>
  <cp:lastModifiedBy>Microsoft Office User</cp:lastModifiedBy>
  <cp:revision>61</cp:revision>
  <dcterms:created xsi:type="dcterms:W3CDTF">2025-11-11T04:23:33Z</dcterms:created>
  <dcterms:modified xsi:type="dcterms:W3CDTF">2025-11-14T12:13:59Z</dcterms:modified>
</cp:coreProperties>
</file>